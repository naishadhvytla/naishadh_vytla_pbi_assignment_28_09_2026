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0" y="0"/>
            <a:ext cx="1828800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60720" y="0"/>
            <a:ext cx="118872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DD3FC"/>
                </a:solidFill>
                <a:latin typeface="Aptos"/>
              </a:defRPr>
            </a:pPr>
            <a:r>
              <a:t>POWER BI TRAINING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98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Sales Business Intelligence</a:t>
            </a:r>
            <a:br/>
            <a:r>
              <a:t>&amp; Analytics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26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Aptos"/>
              </a:defRPr>
            </a:pPr>
            <a:r>
              <a:t>From transaction data to decision-ready business insights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572000"/>
            <a:ext cx="4572000" cy="107899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9262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Naishadh Vytla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40096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ID  •  2300040035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8006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BD5E1"/>
                </a:solidFill>
                <a:latin typeface="Aptos"/>
              </a:defRPr>
            </a:pPr>
            <a:r>
              <a:t>Sales | Profitability</a:t>
            </a:r>
            <a:br/>
            <a:r>
              <a:t>Products | Customers | Budget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01  |  WHAT THE DASHBOARD 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Executive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34290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54864" cy="1298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17904"/>
            <a:ext cx="3154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75569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64792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F172A"/>
                </a:solidFill>
                <a:latin typeface="Aptos"/>
              </a:defRPr>
            </a:pPr>
            <a:r>
              <a:t>~40M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04288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Analyzed period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4290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54864" cy="12984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17904"/>
            <a:ext cx="3154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75569"/>
                </a:solidFill>
                <a:latin typeface="Aptos"/>
              </a:defRPr>
            </a:pPr>
            <a:r>
              <a:t>GROSS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64792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F172A"/>
                </a:solidFill>
                <a:latin typeface="Aptos"/>
              </a:defRPr>
            </a:pPr>
            <a:r>
              <a:t>~13M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04288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Sales less cost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371600"/>
            <a:ext cx="34290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371600"/>
            <a:ext cx="54864" cy="12984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517904"/>
            <a:ext cx="3154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75569"/>
                </a:solidFill>
                <a:latin typeface="Aptos"/>
              </a:defRPr>
            </a:pPr>
            <a:r>
              <a:t>GROSS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1764792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F172A"/>
                </a:solidFill>
                <a:latin typeface="Aptos"/>
              </a:defRPr>
            </a:pPr>
            <a:r>
              <a:t>32.51%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04288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Reported overall margin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971800"/>
            <a:ext cx="34290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2971800"/>
            <a:ext cx="54864" cy="12984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118104"/>
            <a:ext cx="3154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75569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364992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F172A"/>
                </a:solidFill>
                <a:latin typeface="Aptos"/>
              </a:defRPr>
            </a:pPr>
            <a:r>
              <a:t>~11K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904487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Approximate orders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2971800"/>
            <a:ext cx="34290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2971800"/>
            <a:ext cx="54864" cy="12984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118104"/>
            <a:ext cx="3154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75569"/>
                </a:solidFill>
                <a:latin typeface="Aptos"/>
              </a:defRPr>
            </a:pPr>
            <a:r>
              <a:t>UNITS SOLD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364992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F172A"/>
                </a:solidFill>
                <a:latin typeface="Aptos"/>
              </a:defRPr>
            </a:pPr>
            <a:r>
              <a:t>~33K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904487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Approximate units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2971800"/>
            <a:ext cx="34290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01000" y="2971800"/>
            <a:ext cx="54864" cy="1298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3118104"/>
            <a:ext cx="3154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75569"/>
                </a:solidFill>
                <a:latin typeface="Aptos"/>
              </a:defRPr>
            </a:pPr>
            <a:r>
              <a:t>AVG. ORDER VALUE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3364992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F172A"/>
                </a:solidFill>
                <a:latin typeface="Aptos"/>
              </a:defRPr>
            </a:pPr>
            <a:r>
              <a:t>~3.64K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3904487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Aptos"/>
              </a:defRPr>
            </a:pPr>
            <a:r>
              <a:t>Revenue per order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75488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75569"/>
                </a:solidFill>
                <a:latin typeface="Aptos"/>
              </a:defRPr>
            </a:pPr>
            <a:r>
              <a:t>DECISION SIGNAL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0749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Strong headline totals are paired with a sharp post-2022 decline, uneven monthly performance, concentration in key products/customers, and a budget KPI that requires validation.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ptos"/>
              </a:defRPr>
            </a:pPr>
            <a:r>
              <a:t>Power BI Sales Intelligence &amp; 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196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02  |  WHY THIS DASHBOARD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Business Problem &amp; Analysis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37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ptos"/>
              </a:defRPr>
            </a:pPr>
            <a:r>
              <a:t>DATA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240280"/>
            <a:ext cx="29260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ptos"/>
              </a:defRPr>
            </a:pPr>
            <a:r>
              <a:t>Sales transactions for 2021–2023 with product, customer, salesperson, location and date details, plus budget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474720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737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Aptos"/>
              </a:defRPr>
            </a:pPr>
            <a:r>
              <a:t>BUSINESS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2240280"/>
            <a:ext cx="29260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ptos"/>
              </a:defRPr>
            </a:pPr>
            <a:r>
              <a:t>How are we performing against last year and budget? Which products, customers, people and regions matter most?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17320"/>
            <a:ext cx="3474720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737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Aptos"/>
              </a:defRPr>
            </a:pPr>
            <a:r>
              <a:t>DECISION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40280"/>
            <a:ext cx="29260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ptos"/>
              </a:defRPr>
            </a:pPr>
            <a:r>
              <a:t>Identify performance shifts, concentration risks, weak periods and areas requiring targeted follow-up.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1663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75569"/>
                </a:solidFill>
                <a:latin typeface="Aptos"/>
              </a:defRPr>
            </a:pPr>
            <a:r>
              <a:t>ANALYSIS LENS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486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Aptos"/>
              </a:defRPr>
            </a:pPr>
            <a:r>
              <a:t>Performance  →  Drivers  →  Risks  →  Actions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ptos"/>
              </a:defRPr>
            </a:pPr>
            <a:r>
              <a:t>Power BI Sales Intelligence &amp;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96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03  |  FROM RAW DATASETS TO AN ANALYSIS-READY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Data Preparation &amp; Star Schema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60020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700784"/>
            <a:ext cx="4389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417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Aptos"/>
              </a:defRPr>
            </a:pPr>
            <a:r>
              <a:t>Import datasets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3271" y="1792224"/>
            <a:ext cx="1161288" cy="3200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94560" y="160020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700784"/>
            <a:ext cx="4389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148840"/>
            <a:ext cx="1417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Aptos"/>
              </a:defRPr>
            </a:pPr>
            <a:r>
              <a:t>Inspect columns &amp; types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33472" y="1792224"/>
            <a:ext cx="1161288" cy="3200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94760" y="160020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700784"/>
            <a:ext cx="4389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148840"/>
            <a:ext cx="1417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Aptos"/>
              </a:defRPr>
            </a:pPr>
            <a:r>
              <a:t>Remove unnecessary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3672" y="1792224"/>
            <a:ext cx="1161288" cy="3200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94960" y="160020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1700784"/>
            <a:ext cx="4389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148840"/>
            <a:ext cx="1417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Aptos"/>
              </a:defRPr>
            </a:pPr>
            <a:r>
              <a:t>Append 2021–2023 sales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33872" y="1792224"/>
            <a:ext cx="1161288" cy="3200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995160" y="160020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1700784"/>
            <a:ext cx="4389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148840"/>
            <a:ext cx="1417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Aptos"/>
              </a:defRPr>
            </a:pPr>
            <a:r>
              <a:t>Create Fact_Sales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34072" y="1792224"/>
            <a:ext cx="1161288" cy="3200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95360" y="160020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1700784"/>
            <a:ext cx="4389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148840"/>
            <a:ext cx="1417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Aptos"/>
              </a:defRPr>
            </a:pPr>
            <a:r>
              <a:t>Handle data-quality issues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34272" y="1792224"/>
            <a:ext cx="1161288" cy="3200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95560" y="160020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60" y="1700784"/>
            <a:ext cx="4389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148840"/>
            <a:ext cx="1417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Aptos"/>
              </a:defRPr>
            </a:pPr>
            <a:r>
              <a:t>Prepare model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566160"/>
            <a:ext cx="1074420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38404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Aptos"/>
              </a:defRPr>
            </a:pPr>
            <a:r>
              <a:t>STAR SCHEMA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3434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Aptos"/>
              </a:defRPr>
            </a:pPr>
            <a:r>
              <a:t>Fact_Sales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0" y="4069080"/>
            <a:ext cx="19202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51376" y="418795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ptos"/>
              </a:defRPr>
            </a:pPr>
            <a:r>
              <a:t>Dim_Product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4069080"/>
            <a:ext cx="19202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91656" y="418795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ptos"/>
              </a:defRPr>
            </a:pPr>
            <a:r>
              <a:t>Dim_Date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95360" y="4069080"/>
            <a:ext cx="19202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31936" y="418795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ptos"/>
              </a:defRPr>
            </a:pPr>
            <a:r>
              <a:t>Dim_Customer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0" y="4782312"/>
            <a:ext cx="19202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51376" y="4901184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ptos"/>
              </a:defRPr>
            </a:pPr>
            <a:r>
              <a:t>Dim_Location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4782312"/>
            <a:ext cx="19202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91656" y="4901184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  <a:latin typeface="Aptos"/>
              </a:defRPr>
            </a:pPr>
            <a:r>
              <a:t>Dim_Salesperson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5166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75569"/>
                </a:solidFill>
                <a:latin typeface="Aptos"/>
              </a:defRPr>
            </a:pPr>
            <a:r>
              <a:t>One-to-many relationships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5486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Aptos"/>
              </a:defRPr>
            </a:pPr>
            <a:r>
              <a:t>Filters flow from dimensions to facts.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ptos"/>
              </a:defRPr>
            </a:pPr>
            <a:r>
              <a:t>Power BI Sales Intelligence &amp; Analytics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04  |  MEASURES POWERING THE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KPI &amp; DAX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0749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4708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ptos"/>
              </a:defRPr>
            </a:pPr>
            <a:r>
              <a:t>SUMX(Fact_Sales, Price × Quantity)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0749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361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Aptos"/>
              </a:defRPr>
            </a:pPr>
            <a:r>
              <a:t>Gross Profit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4708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ptos"/>
              </a:defRPr>
            </a:pPr>
            <a:r>
              <a:t>Total Sales − Total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97480"/>
            <a:ext cx="50749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620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Aptos"/>
              </a:defRPr>
            </a:pPr>
            <a:r>
              <a:t>Gross Margin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7296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ptos"/>
              </a:defRPr>
            </a:pPr>
            <a:r>
              <a:t>Gross Profit ÷ Total Sales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97480"/>
            <a:ext cx="50749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8620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Aptos"/>
              </a:defRPr>
            </a:pPr>
            <a:r>
              <a:t>YTD 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17296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ptos"/>
              </a:defRPr>
            </a:pPr>
            <a:r>
              <a:t>TOTALYTD(Total Sales, Date)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023360"/>
            <a:ext cx="50749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879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Aptos"/>
              </a:defRPr>
            </a:pPr>
            <a:r>
              <a:t>Budget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9884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ptos"/>
              </a:defRPr>
            </a:pPr>
            <a:r>
              <a:t>SUM(Monthly Allocation2)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023360"/>
            <a:ext cx="50749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1879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Aptos"/>
              </a:defRPr>
            </a:pPr>
            <a:r>
              <a:t>Business KPIs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49884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ptos"/>
              </a:defRPr>
            </a:pPr>
            <a:r>
              <a:t>Orders • Units • AOV • YoY • Budget Achievement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440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75569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7424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Aptos"/>
              </a:defRPr>
            </a:pPr>
            <a:r>
              <a:t>Standardized measures turn transaction-level data into comparable business KPIs and time-intelligence views.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ptos"/>
              </a:defRPr>
            </a:pPr>
            <a:r>
              <a:t>Power BI Sales Intelligence &amp;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196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05  |  SEVEN REPORT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Dashboard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514600" cy="1234440"/>
          </a:xfrm>
          <a:prstGeom prst="round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53619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Executive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51460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53619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84708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Sales Trend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251460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3619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4708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Product Performance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39" y="1371600"/>
            <a:ext cx="251460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19" y="153619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19" y="184708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Customer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26080"/>
            <a:ext cx="251460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09067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4015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Salesperson Performance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2926080"/>
            <a:ext cx="251460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309067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4015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Geographic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926080"/>
            <a:ext cx="251460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09067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4015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Budget vs Actual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7091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75569"/>
                </a:solidFill>
                <a:latin typeface="Aptos"/>
              </a:defRPr>
            </a:pPr>
            <a:r>
              <a:t>DESIGN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04748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Start with the executive picture, drill into time, products, customers, people and geography, then close the loop with budget validation.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ptos"/>
              </a:defRPr>
            </a:pPr>
            <a:r>
              <a:t>Power BI Sales Intelligence &amp;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96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06  |  TIME-BASED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Sales &amp; Trend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6903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7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344168"/>
            <a:ext cx="6775704" cy="43982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577840"/>
            <a:ext cx="6629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75569"/>
                </a:solidFill>
                <a:latin typeface="Aptos"/>
              </a:defRPr>
            </a:pPr>
            <a:r>
              <a:t>Source dashboard visual: sales trend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280160"/>
            <a:ext cx="3703320" cy="45262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600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WHAT THE TREND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03120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2103120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Peak sales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788920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YoY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2788920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~−72.32%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474720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Monthly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3474720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ptos"/>
              </a:defRPr>
            </a:pPr>
            <a:r>
              <a:t>Noticeable ups &amp; downs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160520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Daily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4160520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ptos"/>
              </a:defRPr>
            </a:pPr>
            <a:r>
              <a:t>Drill down for unusual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846320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4846320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ptos"/>
              </a:defRPr>
            </a:pPr>
            <a:r>
              <a:t>Use seasonal patterns for promotions &amp; stock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ptos"/>
              </a:defRPr>
            </a:pPr>
            <a:r>
              <a:t>Power BI Sales Intelligence &amp;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196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07  |  REVENUE DEPENDENCY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Product &amp; Customer Concentration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8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344168"/>
            <a:ext cx="7324344" cy="43982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577840"/>
            <a:ext cx="7178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75569"/>
                </a:solidFill>
                <a:latin typeface="Aptos"/>
              </a:defRPr>
            </a:pPr>
            <a:r>
              <a:t>Source dashboard visual: product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280160"/>
            <a:ext cx="3200400" cy="45262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600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Aptos"/>
              </a:defRPr>
            </a:pPr>
            <a:r>
              <a:t>BUSINESS 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01168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ptos"/>
              </a:defRPr>
            </a:pPr>
            <a:r>
              <a:t>• A limited group of products contributes a large share of sales.</a:t>
            </a:r>
            <a:br/>
            <a:r>
              <a:t>• Top products should be protected through availability and focused marketing.</a:t>
            </a:r>
            <a:br/>
            <a:r>
              <a:t>• Weaker products need review for improvement or replacement.</a:t>
            </a:r>
            <a:br/>
            <a:r>
              <a:t>• Customer concentration increases retention risk if major accounts are lost.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ptos"/>
              </a:defRPr>
            </a:pPr>
            <a:r>
              <a:t>Power BI Sales Intelligence &amp;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96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08  |  FINDING WHERE PERFORMANCE VARIES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Geographic &amp; Salesperson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492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8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344168"/>
            <a:ext cx="5221224" cy="4078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257800"/>
            <a:ext cx="5074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75569"/>
                </a:solidFill>
                <a:latin typeface="Aptos"/>
              </a:defRPr>
            </a:pPr>
            <a:r>
              <a:t>Geographic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280160"/>
            <a:ext cx="53492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9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44168"/>
            <a:ext cx="5221224" cy="40782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36792" y="5257800"/>
            <a:ext cx="5074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475569"/>
                </a:solidFill>
                <a:latin typeface="Aptos"/>
              </a:defRPr>
            </a:pPr>
            <a:r>
              <a:t>Salesperson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15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Use these views to locate strong and weak regions and identify salesperson performance differences before assigning targeted actions.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ptos"/>
              </a:defRPr>
            </a:pPr>
            <a:r>
              <a:t>Power BI Sales Intelligence &amp;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196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09  |  DATA-QUALITY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Budget vs Actual: Validation Required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749039" cy="196596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Aptos"/>
              </a:defRPr>
            </a:pPr>
            <a:r>
              <a:t>CURRENT BUDGET ACHIEVEMENT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DC2626"/>
                </a:solidFill>
                <a:latin typeface="Aptos"/>
              </a:defRPr>
            </a:pPr>
            <a:r>
              <a:t>3963.17%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6148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Aptos"/>
              </a:defRPr>
            </a:pPr>
            <a:r>
              <a:t>Treat as untrusted until validated.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371600"/>
            <a:ext cx="30632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53619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53619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Aptos"/>
              </a:defRPr>
            </a:pPr>
            <a:r>
              <a:t>Check budget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8470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Aptos"/>
              </a:defRPr>
            </a:pPr>
            <a:r>
              <a:t>Review monthly allocations.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0632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3619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153619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Aptos"/>
              </a:defRPr>
            </a:pPr>
            <a:r>
              <a:t>Check relationships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8470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Aptos"/>
              </a:defRPr>
            </a:pPr>
            <a:r>
              <a:t>Verify filter paths.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2697480"/>
            <a:ext cx="30632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286207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86207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Aptos"/>
              </a:defRPr>
            </a:pPr>
            <a:r>
              <a:t>Check DAX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1729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Aptos"/>
              </a:defRPr>
            </a:pPr>
            <a:r>
              <a:t>Reconcile the calculation.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697480"/>
            <a:ext cx="30632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86207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286207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Aptos"/>
              </a:defRPr>
            </a:pPr>
            <a:r>
              <a:t>Re-test KPI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31729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Aptos"/>
              </a:defRPr>
            </a:pPr>
            <a:r>
              <a:t>Validate monthly/yearly totals.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75569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920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The source submission explicitly flags the 3963.17% figure as a validation issue. It should not be used to judge budget performance until the data, relationships and calculation are reconciled.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ptos"/>
              </a:defRPr>
            </a:pPr>
            <a:r>
              <a:t>Power BI Sales Intelligence &amp;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196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10  |  WHAT MANAGEMENT SHOULD NOTICE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Key Business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28016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Sales decline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28016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YoY growth is reported at approximately −72.32%; the change needs root-cause analysis.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01952"/>
            <a:ext cx="1069848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402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2022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24028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2022 is identified as the strongest sales year in the analyzed period.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862072"/>
            <a:ext cx="1069848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2004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20040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A small set of products and customers drives a large share of revenue.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22191"/>
            <a:ext cx="1069848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16052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Volatility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16052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Monthly sales show noticeable swings, making planning less consistent.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82312"/>
            <a:ext cx="1069848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206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1206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Budget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12064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Aptos"/>
              </a:defRPr>
            </a:pPr>
            <a:r>
              <a:t>Budget Achievement is currently 3963.17% and requires validation before decision use.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ptos"/>
              </a:defRPr>
            </a:pPr>
            <a:r>
              <a:t>Power BI Sales Intelligence &amp;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96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Aptos"/>
              </a:defRPr>
            </a:pPr>
            <a:r>
              <a:t>11  |  TURNING INSIGHTS INTO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Recommendations &amp;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2801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Diagnose the decline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28016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Break the sales drop down by year, month, product, customer, salesperson and location.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1945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Fix the budget KPI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9456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Validate budget values, relationships and DAX before using budget achievement.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1089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Protect high performers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10896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Keep top products available and supported; review weaker products.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0233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Strengthen retention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02336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Prioritize high-value customers with personalized offers and repeat-purchase initiatives.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377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Plan around seasonality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93776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Align promotions, inventory and sales activity with monthly/quarterly patterns.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Aptos"/>
              </a:defRPr>
            </a:pPr>
            <a:r>
              <a:t>Outcome: better sales planning • stronger retention • smarter product decisions • more reliable financial 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ptos"/>
              </a:defRPr>
            </a:pPr>
            <a:r>
              <a:t>Power BI Sales Intelligence &amp;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96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Aptos"/>
              </a:defRPr>
            </a:pPr>
            <a:r>
              <a:t>12  |  FINAL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"/>
              </a:defRPr>
            </a:pPr>
            <a:r>
              <a:t>Closing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F172A"/>
                </a:solidFill>
                <a:latin typeface="Aptos"/>
              </a:defRPr>
            </a:pPr>
            <a:r>
              <a:t>The dashboard connects sales, profitability, products, customers, people, locations and budget performance into one analytical 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880360"/>
            <a:ext cx="251460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31546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52044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~40M sales</a:t>
            </a:r>
            <a:br/>
            <a:r>
              <a:t>~13M gross profit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880360"/>
            <a:ext cx="251460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0752" y="31546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MOMENTUM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0752" y="352044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2022 peak</a:t>
            </a:r>
            <a:br/>
            <a:r>
              <a:t>~−72.32% YoY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2880360"/>
            <a:ext cx="251460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1" y="31546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1" y="352044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Product + customer concentration</a:t>
            </a:r>
            <a:br/>
            <a:r>
              <a:t>Monthly volatility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999" y="2880360"/>
            <a:ext cx="251460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08591" y="31546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8591" y="352044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Budget KPI requires</a:t>
            </a:r>
            <a:br/>
            <a: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12080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75569"/>
                </a:solidFill>
                <a:latin typeface="Aptos"/>
              </a:defRPr>
            </a:pPr>
            <a:r>
              <a:t>Naishadh Vytla  |  2300040035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23560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Aptos"/>
              </a:defRPr>
            </a:pPr>
            <a:r>
              <a:t>Power BI Sales Intelligence &amp; Analytics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92240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ptos"/>
              </a:defRPr>
            </a:pPr>
            <a:r>
              <a:t>Power BI Sales Intelligence &amp;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196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A3B8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